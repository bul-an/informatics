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7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Общая схема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Два режима, чёткая граница между ними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Пользовательский режим (Ring 3)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Приложения, подсистемы окружения, интегральные подсистемы. Ограниченный доступ к памяти и оборудованию.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Режим ядра (Ring 0)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Executive, ядро, HAL, драйверы. Полный доступ ко всему.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Граница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Переход — только через системные вызовы (syscall).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Иерархия слоёв (сверху вниз):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Приложения → Подсистемы → Системные вызовы → Executive → Ядро → HAL → Драйверы → Оборудование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Общая схема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Архитектура Windows: слои и кольца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46120" y="548640"/>
            <a:ext cx="4572000" cy="50292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Приложения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32120" y="1051560"/>
            <a:ext cx="0" cy="109728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46120" y="1161288"/>
            <a:ext cx="4572000" cy="5029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Подсистемы окружения (Win32, POSIX, OS/2)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1664208"/>
            <a:ext cx="0" cy="109728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46120" y="1773936"/>
            <a:ext cx="4572000" cy="5029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Интегральные подсистемы (csrss.exe, lsass.exe)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414016"/>
            <a:ext cx="5120640" cy="0"/>
          </a:xfrm>
          <a:prstGeom prst="line">
            <a:avLst/>
          </a:prstGeom>
          <a:ln w="508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70520" y="2432304"/>
            <a:ext cx="11663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dirty="0" err="1">
                <a:latin typeface="Calibri"/>
              </a:rPr>
              <a:t>системные</a:t>
            </a:r>
            <a:r>
              <a:rPr sz="900" b="1" dirty="0">
                <a:latin typeface="Calibri"/>
              </a:rPr>
              <a:t> </a:t>
            </a:r>
            <a:r>
              <a:rPr sz="900" b="1" dirty="0" err="1">
                <a:latin typeface="Calibri"/>
              </a:rPr>
              <a:t>вызовы</a:t>
            </a:r>
            <a:endParaRPr sz="900" b="1" dirty="0">
              <a:latin typeface="Calibri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532120" y="2432304"/>
            <a:ext cx="0" cy="210312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46120" y="2642616"/>
            <a:ext cx="4572000" cy="50292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Executive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3145536"/>
            <a:ext cx="0" cy="109728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46120" y="3255264"/>
            <a:ext cx="4572000" cy="50292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Ядро (Kernel)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3758184"/>
            <a:ext cx="0" cy="109728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46120" y="3867912"/>
            <a:ext cx="4572000" cy="50292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HAL (hal.dll)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4370832"/>
            <a:ext cx="0" cy="109728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46120" y="4480560"/>
            <a:ext cx="4572000" cy="50292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Драйверы устройств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32120" y="4983480"/>
            <a:ext cx="0" cy="109728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246120" y="5093208"/>
            <a:ext cx="4572000" cy="50292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Оборудование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548640"/>
            <a:ext cx="274320" cy="1728216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48839" y="64008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latin typeface="Calibri"/>
              </a:rPr>
              <a:t>Ring
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39" y="2642616"/>
            <a:ext cx="274320" cy="2340864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39" y="2734056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latin typeface="Calibri"/>
              </a:rPr>
              <a:t>Ring
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6126480"/>
            <a:ext cx="274320" cy="27432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latin typeface="Calibri"/>
              </a:rPr>
              <a:t>Ring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6126480"/>
            <a:ext cx="274320" cy="27432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latin typeface="Calibri"/>
              </a:rPr>
              <a:t>Ring 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63640" y="6263640"/>
            <a:ext cx="365760" cy="0"/>
          </a:xfrm>
          <a:prstGeom prst="line">
            <a:avLst/>
          </a:prstGeom>
          <a:ln w="508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2084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latin typeface="Calibri"/>
              </a:rPr>
              <a:t>системные вызовы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Подсистемы окружения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Переводчики API для приложений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Win32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Основная подсистема. Все классические Windows-приложения. Часть функций (окна, графика — win32k.sys) перенесена в ядро с NT 4.0 для производительности.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POSIX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Unix-совместимый API. Позволяла запускать перенесённые Unix-утилиты. Сейчас заменена на WSL.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OS/2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Историческая подсистема для программ IBM OS/2. Убрана после Windows 2000.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WSL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Linux-приложения прямо в Windows. WSL 2 — полноценное ядро Linux в виртуальной машине Hyper-V.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Интегральные подсистемы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Управление и безопасность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Security (lsass.exe)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Аутентификация пользователей, проверка паролей, выдача маркеров доступа, Kerberos-билеты. Без неё вход невозможен.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Service Control Manager (services.exe)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Запуск, остановка и управление службами. Контроль автозапуска и зависимостей. Диспетчер фоновых задач.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Workstation 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Клиент сети: подключение к общим ресурсам других машин.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Server 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Сервер сети: предоставление ресурсов этого компьютера другим машинам.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Набор менеджеров — мозг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Менеджеры Executive: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Object Manager — все ресурсы как объекты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Process Manager — процессы и потоки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Memory Manager — виртуальная память, подкачка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I/O Manager — ввод-вывод через IRP-пакеты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Cache Manager — кэш файловой системы в RAM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SRM — проверка прав доступа в ядре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Configuration Manager — работа с реестром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LPC Facility — межпроцессный канал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PnP Manager — горячее подключение устройств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Power Manager — управление питанием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Десять менеджеров ядра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371600"/>
            <a:ext cx="1005840" cy="77724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Object
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1005840" cy="77724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Process
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71600"/>
            <a:ext cx="1005840" cy="77724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Memory
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371600"/>
            <a:ext cx="1005840" cy="77724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I/O
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005840" cy="777240"/>
          </a:xfrm>
          <a:prstGeom prst="rect">
            <a:avLst/>
          </a:prstGeom>
          <a:solidFill>
            <a:srgbClr val="F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Cache
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651760"/>
            <a:ext cx="1005840" cy="77724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SRM
(Security
Ref.)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651760"/>
            <a:ext cx="1005840" cy="77724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Config.
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651760"/>
            <a:ext cx="1005840" cy="77724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LPC
Manager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651760"/>
            <a:ext cx="1005840" cy="77724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PnP
Manager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651760"/>
            <a:ext cx="1005840" cy="77724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Power
Manager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1760220"/>
            <a:ext cx="274320" cy="0"/>
          </a:xfrm>
          <a:prstGeom prst="line">
            <a:avLst/>
          </a:prstGeom>
          <a:ln w="25400">
            <a:solidFill>
              <a:srgbClr val="2EA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29000" y="2148840"/>
            <a:ext cx="0" cy="502920"/>
          </a:xfrm>
          <a:prstGeom prst="line">
            <a:avLst/>
          </a:prstGeom>
          <a:ln w="25400">
            <a:solidFill>
              <a:srgbClr val="F3B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269480" y="2148840"/>
            <a:ext cx="0" cy="50292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90688" y="14676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1488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>
                <a:latin typeface="Calibri"/>
              </a:rPr>
              <a:t>контроль доступа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>
                <a:latin typeface="Calibri"/>
              </a:rPr>
              <a:t>обнаружение устройств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75488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Десять менеджеров Executive — каждый отвечает за свою область.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Стрелки показывают ключевые зависимости: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I/O → Cache (кэширование ввода-вывода),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SRM → Object (проверка прав доступа к объектам),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PnP → I/O (уведомление о новых устройствах).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Ядро, HAL, драйверы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Слои режима ядра — от ядра к железу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Ядро (Kernel)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Планировщик потоков, обработка прерываний, синхронизация процессоров. Компонуется с Executive в ntoskrnl.exe.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HAL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Скрывает отличия материнских плат, контроллеров и шин. Благодаря ему ядро одинаково для всех конфигураций. Реализован как hal.dll.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Драйверы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Три уровня: высший (фильтры, файловые системы), средний (функциональные драйверы устройств), низший (шины и контроллеры). Превращают абстрактные запросы в команды для оборудования.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Ring 0 и Ring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Защита через уровни привилегий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Ring 3 (пользовательский)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Приложения и подсистемы. Ограниченный доступ к памяти, прямой доступ к портам запрещён.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Ring 0 (режим ядра)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Ядро, Executive, драйверы, HAL. Полный доступ ко всему: память, порты, прерывания, устройства.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Зачем разделение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Приложение не может навредить системе — оно ограничено своим адресным пространством.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Переход через syscall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1. Приложение вызывает API → 2. kernel32.dll формирует вызов → 3. Переключение Ring 3 → Ring 0 → 4. Ядро выполняет → 5. Возврат в Ring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Подсистемы: детали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Клиент-серверная 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Клиентская часть (DLL в приложении)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kernel32.dll, user32.dll, gdi32.dll. Загружаются в адресное пространство каждого приложения. Частично обрабатывают запросы сами, сложные — передают серверу.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Серверная часть (отдельный процесс)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csrss.exe — работает постоянно. Получает запросы через LPC, формирует системные вызовы к Executive. Критический процесс: завершение — синий экран.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Гибрид Win32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С NT 4.0 управление окнами и GDI (win32k.sys) перенесены в ядро для скорости. Часть подсистемы — в Ring 3, часть — в Ring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Executive — часть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Менеджеры ресурсов и памяти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Object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Всё есть объект: файлы, процессы, события, устройства. Единые правила: именование, права, учёт ссылок.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Process &amp; Thread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Создание и завершение процессов и потоков, приоритеты. Процесс — контейнер ресурсов, поток — единица исполнения.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Virtual Memory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Виртуальное адресное пространство: 4 ГБ (32-бит), 128 ТБ (64-бит). Таблицы страниц, подкачка, отображение файлов.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I/O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Единый интерфейс ввода-вывода. Запросы — IRP-пакеты, передаваемые по цепочке драйверов.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Cache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Единый кэш для всех файловых систем. Хранит недавние данные в RAM для скорости.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Executive — часть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Безопасность, конфигурация, оборудование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Security Reference Monitor (SRM)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Проверка прав в ядре. Работает в паре с lsass.exe: lsass аутентифицирует (кто вы), SRM авторизует (можете ли вы).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Configuration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Работа с реестром Windows — иерархической базой настроек системы и приложений.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PnP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Обнаружение и конфигурация устройств при подключении. Распределяет ресурсы, загружает драйверы.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Power Manager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Управление питанием: спящий режим, гибернация, регулировка частоты процессора.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LPC Facility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Быстрый межпроцессный канал для связи клиентских DLL с серверами подсистем.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Ядро и HAL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Фундамент и абстракция железа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Ядро (Kernel) — что делает: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Планирование потоков: какой поток на каком ядре (32 уровня приоритета, вытесняющий алгоритм)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Обработка прерываний: приём через HAL, передача драйверам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Синхронизация процессоров: спин-блокировки, очереди DPC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Обработка исключений: деление на ноль, нарушение доступа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Компонуется с Executive в ntoskrnl.exe.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HAL — что абстрагирует: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Контроллер прерываний (APIC, PIC)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Таймеры системы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Доступ к портам ввода-вывода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Механизм DMA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Межпроцессорное взаимодействие (IPI)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Драйверы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Три уровня от приложений к железу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Высший уровень (Upper-level)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Фильтр-драйверы и файловые системы (NTFS, FAT32). Пример: антивирус проверяет файл перед открытием.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Средний уровень (Intermediate)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Функциональные драйверы устройств: диск, сеть, аудио. Разбивают запросы, управляют очередями.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Низший уровень (Lower-level)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Драйверы шин и контроллеров: USB, PCIe, SATA. Управляют регистрами, обращаются к HAL.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Цепочка IRP (запись на USB-флешку):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Фильтр ФС → NTFS → драйвер тома → USB-контроллер → HAL. Каждый уровень может модифицировать запрос. Результат возвращается снизу вверх.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Системный вызов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Путь запроса от приложения к ядру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Пример: CreateFile — открытие файла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1. Приложение вызывает CreateFile("C:\test.txt")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2. kernel32.dll проверяет параметры, передаёт в ntdll.dll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3. ntdll.dll выполняет syscall — Ring 3 → Ring 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4. Срабатывает системный сервис Executive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5. Object Manager + SRM проверяют права доступа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6. I/O Manager создаёт IRP → драйвер NTFS → драйвер диска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7. Драйвер диска через HAL отправляет команды контроллеру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8. Данные читаются, дескриптор возвращается в Ring 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Переключение режимов — дорогая операция. Десятки тысяч syscall в секунду создают заметную нагрузку.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Межпроцессное взаимодействие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LPC (Local Procedure Call)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Быстрый канал для процессов на одной машине. Используется между клиентскими DLL и серверами подсистем.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Разделяемая память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Несколько процессов отображают один участок физической памяти. Самый быстрый способ обмена большими данными — нет копирования через ядро.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Именованные каналы (Named Pipes)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Поток данных между процессами, поддерживает сеть. Пример: общение SQL Server с клиентами.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Почтовые слоты (Mailslots)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Односторонняя передача, широковещательная рассылка. Обнаружение компьютеров в сети.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RPC (Remote Procedure Call)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Вызовы между компьютерами в сети. Расширение LPC. Удалённые функции как локальные.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Реестр: история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От INI-файлов к единому хранилищу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Что такое реестр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Иерархическая база данных настроек ОС, программ, профилей пользователей и конфигурации оборудования.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До реестра — INI-файлы (win.ini, system.ini)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Ограничение 64 КБ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Нет иерархии — плоский текст «ключ=значение»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Нет защиты — любой может изменить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Нет типизации — всё как текст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Медленный поиск на FAT16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Появление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Windows 3.1 (1992) — только для COM и ассоциаций файлов. Windows 95 и NT 4.0 — основное хранилище настроек.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Реестр: 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Ульи и ветки реестра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2000" b="1">
                <a:solidFill>
                  <a:srgbClr val="283246"/>
                </a:solidFill>
                <a:latin typeface="Calibri"/>
              </a:rPr>
              <a:t>Преимущества над INI: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>
                <a:solidFill>
                  <a:srgbClr val="283246"/>
                </a:solidFill>
                <a:latin typeface="Calibri"/>
              </a:rPr>
              <a:t>Единый API, иерархия, типизация (DWORD, строка, бинарный), разграничение прав, поддержка нескольких пользователей. За работу отвечает Configuration Manager (Executive).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14600" y="1828800"/>
          <a:ext cx="6355080" cy="477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Файл</a:t>
                      </a:r>
                    </a:p>
                  </a:txBody>
                  <a:tcPr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Ветка реестра</a:t>
                      </a:r>
                    </a:p>
                  </a:txBody>
                  <a:tcPr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Содержимое</a:t>
                      </a:r>
                    </a:p>
                  </a:txBody>
                  <a:tcPr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HKLM\SYSTEM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Конфигурация оборудования, драйверы, службы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HKLM\SOFTWARE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Настройки установленных программ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SAM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HKLM\SAM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База учётных записей (Security Accounts Manager)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HKLM\SECURITY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Политика безопасности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HKU\.DEFAULT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Профиль по умолчанию для новых пользователей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NTUSER.DAT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HKCU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Настройки текущего пользователя (в домашней папке)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BIOS и UEFI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Прошивка материнской платы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BIOS (с 1970-х)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Чип на материнской плате. POST — проверка железа. Читает MBR (512 байт) с диска. 16-битный реальный режим. Диски до 2 ТБ, текстовый интерфейс.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UEFI (с 2000-х)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Современная замена BIOS — мини-ОС: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32/64-битный режим, графический интерфейс с мышью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Диски более 2 ТБ через GPT (вместо MBR)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Secure Boot — проверка подписи загрузчика (защита от руткитов)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Параллельная инициализация — быстрая загрузка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Загрузчик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Программа, которая находит ядро ОС на диске, загружает в RAM и передаёт управление. Windows: bootmgr / bootmgfw.efi. Linux: GRUB.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Загрузка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От загрузчика до рабочего стола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Этапы запуска: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1. Winload (winload.efi) — загружает ядро ntoskrnl.exe, hal.dll, реестр (SYSTEM), boot-драйверы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2. Инициализация ядра — Executive-менеджеры, system-драйверы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3. smss.exe — первый процесс пользовательского режима. Создаёт сессии, запускает csrss.exe, выполняет autochk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4. csrss.exe — подсистема Win32 для каждой сессии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5. winlogon.exe — экран входа, Ctrl+Alt+Del, передача учётных данных в lsass.exe для аутентификации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6. explorer.exe — рабочий стол, панель задач. Автозапуск программ и служб.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Процессы и память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Контейнеры, исполнители и адресные пространства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Процесс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Контейнер ресурсов: адресное пространство, дескрипторы, маркер безопасности. Сам ничего не выполняет.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Поток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Единица исполнения. Свой стек, регистры, приоритет (0–31). Состояния: готов, выполняется, ожидает.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Виртуальная память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Каждому процессу — своё адресное пространство: 4 ГБ (32-бит) или 128 ТБ (64-бит). Виртуальные адреса не равны физическим. Таблицы страниц управляют соответствием.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Page fault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Обращение к выгруженной странице — page fault. Страница загружается из файла подкачки pagefile.sys. Размер страницы — обычно 4 КБ.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Драйверы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Миф об отсутствии драйверов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Утверждение: «В Linux нет драйверов»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Это миф. Драйверы есть — они иначе организованы.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Windows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Драйвер — отдельный файл (.sys), устанавливается индивидуально. Производитель распространяет через сайт или Центр обновления.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Linux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Большинство драйверов встроено в ядро или поставляется как загружаемый модуль (.ko). При загрузке ядра нужные модули подгружаются автоматически.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Разница — в модели распространения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Windows: отдельный файл от производителя. Linux: часть ядра или модуль. Концепция драйвера существует в обеих системах.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WSL и железо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Доступ к оборудованию через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>
                <a:solidFill>
                  <a:srgbClr val="283246"/>
                </a:solidFill>
                <a:latin typeface="Calibri"/>
              </a:rPr>
              <a:t>WSL 2 — виртуальная машина Hyper-V с ядром Linux. Доступ к оборудованию — не напрямую, а через Windows. Драйверы Linux внутри WSL, как правило, не нужны — достаточно драйверов на стороне Windows.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14600" y="1828800"/>
          <a:ext cx="6355080" cy="476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Устройство</a:t>
                      </a:r>
                    </a:p>
                  </a:txBody>
                  <a:tcPr>
                    <a:solidFill>
                      <a:srgbClr val="176D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Как работает в WSL 2</a:t>
                      </a:r>
                    </a:p>
                  </a:txBody>
                  <a:tcPr>
                    <a:solidFill>
                      <a:srgbClr val="176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Видеокарта (GPU)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GPU-паравиртуализация. CUDA работает, прямого доступа к дисплею нет. Используется Windows-драйвер.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USB-устройства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Не работают «из коробки». Нужен usbipd-win — проброс USB из Windows в WSL.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Звук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Через WSLg — PulseAudio пробрасывает звук в аудиостек Windows.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Сеть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Виртуальный адаптер, свой IP, доступ в интернет через NAT хоста.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Диски и файлы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Диск C: доступен по пути /mnt/c/. Файловая система Windows монтируется автоматически.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Память и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83246"/>
                          </a:solidFill>
                          <a:latin typeface="Calibri"/>
                        </a:rPr>
                        <a:t>Часть RAM и ядер процессора хоста. Настраивается через .wslconfig.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2180</Words>
  <Application>Microsoft Office PowerPoint</Application>
  <PresentationFormat>Экран (4:3)</PresentationFormat>
  <Paragraphs>272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Andrey Bulychev</cp:lastModifiedBy>
  <cp:revision>2</cp:revision>
  <dcterms:created xsi:type="dcterms:W3CDTF">2013-01-27T09:14:16Z</dcterms:created>
  <dcterms:modified xsi:type="dcterms:W3CDTF">2026-09-22T19:04:55Z</dcterms:modified>
  <cp:category/>
</cp:coreProperties>
</file>