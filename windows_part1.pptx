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0" r:id="rId9"/>
    <p:sldId id="262" r:id="rId10"/>
    <p:sldId id="263" r:id="rId11"/>
    <p:sldId id="264" r:id="rId12"/>
    <p:sldId id="271" r:id="rId13"/>
    <p:sldId id="265" r:id="rId14"/>
    <p:sldId id="272" r:id="rId15"/>
    <p:sldId id="266" r:id="rId16"/>
    <p:sldId id="273" r:id="rId17"/>
    <p:sldId id="267" r:id="rId18"/>
    <p:sldId id="274" r:id="rId19"/>
    <p:sldId id="268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Архитектура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ADBFF"/>
                </a:solidFill>
                <a:latin typeface="Calibri"/>
              </a:rPr>
              <a:t>Устройство операционной системы, взаимодействие компонентов, история и инструменты командной строки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DOS и окна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Текстовая эпоха и рождение графического интерфейса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01900" y="0"/>
            <a:ext cx="6355080" cy="3743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 dirty="0">
                <a:solidFill>
                  <a:srgbClr val="283246"/>
                </a:solidFill>
                <a:latin typeface="Calibri"/>
              </a:rPr>
              <a:t>DOS (Disk Operating System)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 err="1">
                <a:solidFill>
                  <a:srgbClr val="283246"/>
                </a:solidFill>
                <a:latin typeface="Calibri"/>
              </a:rPr>
              <a:t>Однозадачная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ОС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для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IBM PC (1981).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Текстовый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интерфейс</a:t>
            </a:r>
            <a:r>
              <a:rPr sz="1700" dirty="0">
                <a:solidFill>
                  <a:srgbClr val="283246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прямой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доступ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к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оборудованию</a:t>
            </a:r>
            <a:r>
              <a:rPr sz="1700" dirty="0">
                <a:solidFill>
                  <a:srgbClr val="283246"/>
                </a:solidFill>
                <a:latin typeface="Calibri"/>
              </a:rPr>
              <a:t>, 1 МБ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памяти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.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Ошибка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одной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программы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—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зависание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всего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компьютера</a:t>
            </a:r>
            <a:r>
              <a:rPr sz="1700" dirty="0">
                <a:solidFill>
                  <a:srgbClr val="283246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 dirty="0" err="1">
                <a:solidFill>
                  <a:srgbClr val="283246"/>
                </a:solidFill>
                <a:latin typeface="Calibri"/>
              </a:rPr>
              <a:t>Идея</a:t>
            </a:r>
            <a:r>
              <a:rPr sz="1700" b="1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283246"/>
                </a:solidFill>
                <a:latin typeface="Calibri"/>
              </a:rPr>
              <a:t>графического</a:t>
            </a:r>
            <a:r>
              <a:rPr sz="1700" b="1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283246"/>
                </a:solidFill>
                <a:latin typeface="Calibri"/>
              </a:rPr>
              <a:t>интерфейса</a:t>
            </a:r>
            <a:endParaRPr sz="1700" b="1" dirty="0">
              <a:solidFill>
                <a:srgbClr val="283246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 err="1">
                <a:solidFill>
                  <a:srgbClr val="283246"/>
                </a:solidFill>
                <a:latin typeface="Calibri"/>
              </a:rPr>
              <a:t>Концепция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окон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и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мыши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(WIMP)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родилась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в Xerox PARC в 1973 г. (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компьютер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Xerox Alto).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>
                <a:solidFill>
                  <a:srgbClr val="283246"/>
                </a:solidFill>
                <a:latin typeface="Calibri"/>
              </a:rPr>
              <a:t>1979 —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Стив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Джобс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увидел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Alto. 1984 — Apple Macintosh. 1985 — Windows 1.0.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 err="1">
                <a:solidFill>
                  <a:srgbClr val="283246"/>
                </a:solidFill>
                <a:latin typeface="Calibri"/>
              </a:rPr>
              <a:t>Идея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пришла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не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от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Microsoft и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не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от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Apple —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её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придумали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в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исследовательском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центре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Xerox.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1B4A55-8A7B-C7E2-2E2C-3AA3ED1A0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923" y="3541058"/>
            <a:ext cx="2134352" cy="32093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9BC69E-E8FB-699D-1DCD-C17CCF875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039" y="3743141"/>
            <a:ext cx="4021023" cy="30171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Ранние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Графическая оболочка над 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dirty="0" err="1">
                <a:solidFill>
                  <a:srgbClr val="283246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версии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Windows —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не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самостоятельные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ОС, а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надстройки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над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MS-DOS.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 dirty="0">
                <a:solidFill>
                  <a:srgbClr val="283246"/>
                </a:solidFill>
                <a:latin typeface="Calibri"/>
              </a:rPr>
              <a:t>Windows 1.0 (1985)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dirty="0" err="1">
                <a:solidFill>
                  <a:srgbClr val="283246"/>
                </a:solidFill>
                <a:latin typeface="Calibri"/>
              </a:rPr>
              <a:t>Окна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перекрытия</a:t>
            </a:r>
            <a:r>
              <a:rPr sz="1400" dirty="0">
                <a:solidFill>
                  <a:srgbClr val="283246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поддержка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мыши</a:t>
            </a:r>
            <a:r>
              <a:rPr sz="1400" dirty="0">
                <a:solidFill>
                  <a:srgbClr val="283246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Оболочка</a:t>
            </a:r>
            <a:r>
              <a:rPr sz="1400" dirty="0">
                <a:solidFill>
                  <a:srgbClr val="283246"/>
                </a:solidFill>
                <a:latin typeface="Calibri"/>
              </a:rPr>
              <a:t>, а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не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ОС.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 dirty="0">
                <a:solidFill>
                  <a:srgbClr val="283246"/>
                </a:solidFill>
                <a:latin typeface="Calibri"/>
              </a:rPr>
              <a:t>Windows 2.0 (1987)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dirty="0" err="1">
                <a:solidFill>
                  <a:srgbClr val="283246"/>
                </a:solidFill>
                <a:latin typeface="Calibri"/>
              </a:rPr>
              <a:t>Окна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перекрытием</a:t>
            </a:r>
            <a:r>
              <a:rPr sz="1400" dirty="0">
                <a:solidFill>
                  <a:srgbClr val="283246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первые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версии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Excel и Word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для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Windows.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 dirty="0">
                <a:solidFill>
                  <a:srgbClr val="283246"/>
                </a:solidFill>
                <a:latin typeface="Calibri"/>
              </a:rPr>
              <a:t>Windows 3.0 (1990)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dirty="0" err="1">
                <a:solidFill>
                  <a:srgbClr val="283246"/>
                </a:solidFill>
                <a:latin typeface="Calibri"/>
              </a:rPr>
              <a:t>Защищённый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режим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80286/80386,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виртуальная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память</a:t>
            </a:r>
            <a:r>
              <a:rPr sz="1400" dirty="0">
                <a:solidFill>
                  <a:srgbClr val="283246"/>
                </a:solidFill>
                <a:latin typeface="Calibri"/>
              </a:rPr>
              <a:t>. 10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млн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копий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за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2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года</a:t>
            </a:r>
            <a:r>
              <a:rPr sz="1400" dirty="0">
                <a:solidFill>
                  <a:srgbClr val="283246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 dirty="0">
                <a:solidFill>
                  <a:srgbClr val="283246"/>
                </a:solidFill>
                <a:latin typeface="Calibri"/>
              </a:rPr>
              <a:t>Windows 3.1 / 3.11 (1992–1993)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dirty="0" err="1">
                <a:solidFill>
                  <a:srgbClr val="283246"/>
                </a:solidFill>
                <a:latin typeface="Calibri"/>
              </a:rPr>
              <a:t>Шрифты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TrueType,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сеть</a:t>
            </a:r>
            <a:r>
              <a:rPr sz="1400" dirty="0">
                <a:solidFill>
                  <a:srgbClr val="283246"/>
                </a:solidFill>
                <a:latin typeface="Calibri"/>
              </a:rPr>
              <a:t>, OLE.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Здесь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впервые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появился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83246"/>
                </a:solidFill>
                <a:latin typeface="Calibri"/>
              </a:rPr>
              <a:t>реестр</a:t>
            </a:r>
            <a:r>
              <a:rPr sz="1400" dirty="0">
                <a:solidFill>
                  <a:srgbClr val="283246"/>
                </a:solidFill>
                <a:latin typeface="Calibri"/>
              </a:rPr>
              <a:t> Windows.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1FAC22C-128E-46BA-385E-68CD6B9CE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606" y="3634292"/>
            <a:ext cx="5395222" cy="2949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Windows 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Настоящий переворот в истории ПК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Главные нововведения: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32-битная архитектура, рабочий стол, панель задач, меню «Пуск»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Plug and Play — автоматическая настройка оборудования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Длинные имена файлов (до 255 символов)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TCP/IP встроен в систему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7 млн копий за первые 5 недель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Техническая основа: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Ядро DOS остаётся загруженным. Защищённый режим используется, но 16-битные компоненты сохранены для совместимости — отсюда нестабильность.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A973FB-E1B3-3F71-E6DD-E3258F098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525" y="3096410"/>
            <a:ext cx="4661929" cy="3487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Защищённый режим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Фундамент современных операционных систем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Реальный режим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Процессор ведёт себя как 8086. Нет защиты памяти, до 1 МБ. Прямой доступ к любым ресурсам. В этом режиме работает DOS.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Защищённый режим (80286 / 80386+)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• Изоляция адресных пространств процессов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• Виртуальная память — больше RAM, чем физически установлено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• Уровни привилегий: Ring 0 (ядро), Ring 3 (приложения)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Без защищённого режима невозможны многозадачность, стабильность и безопасность.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15FF-3493-FC1D-BB0B-5E452312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0714B7-EF04-4391-D402-B1FCEA1E695F}"/>
              </a:ext>
            </a:extLst>
          </p:cNvPr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9FE54-6B0B-CD81-2408-E25505CF07AC}"/>
              </a:ext>
            </a:extLst>
          </p:cNvPr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Защищённый режим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0FE83-D326-3F4E-391D-9D5FE761D016}"/>
              </a:ext>
            </a:extLst>
          </p:cNvPr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Фундамент современных операционных систем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2EAC5-B44E-5093-31EC-77FFCC17DC24}"/>
              </a:ext>
            </a:extLst>
          </p:cNvPr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86488-6F56-EFCF-9388-E5C78EA70192}"/>
              </a:ext>
            </a:extLst>
          </p:cNvPr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A5A72-8C6E-319B-9A14-95CCBBB6C773}"/>
              </a:ext>
            </a:extLst>
          </p:cNvPr>
          <p:cNvSpPr txBox="1"/>
          <p:nvPr/>
        </p:nvSpPr>
        <p:spPr>
          <a:xfrm>
            <a:off x="2514600" y="274320"/>
            <a:ext cx="635508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endParaRPr sz="1700" dirty="0">
              <a:solidFill>
                <a:srgbClr val="283246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ADBCD-89F9-8AEA-330D-77D0083E72E5}"/>
              </a:ext>
            </a:extLst>
          </p:cNvPr>
          <p:cNvSpPr txBox="1"/>
          <p:nvPr/>
        </p:nvSpPr>
        <p:spPr>
          <a:xfrm>
            <a:off x="2188283" y="457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dirty="0" err="1">
                <a:latin typeface="Calibri"/>
              </a:rPr>
              <a:t>Реальный</a:t>
            </a:r>
            <a:r>
              <a:rPr sz="1200" b="1" dirty="0">
                <a:latin typeface="Calibri"/>
              </a:rPr>
              <a:t> </a:t>
            </a:r>
            <a:r>
              <a:rPr sz="1200" b="1" dirty="0" err="1">
                <a:latin typeface="Calibri"/>
              </a:rPr>
              <a:t>режим</a:t>
            </a:r>
            <a:r>
              <a:rPr sz="1200" b="1" dirty="0">
                <a:latin typeface="Calibri"/>
              </a:rPr>
              <a:t> (x86 </a:t>
            </a:r>
            <a:r>
              <a:rPr sz="1200" b="1" dirty="0" err="1">
                <a:latin typeface="Calibri"/>
              </a:rPr>
              <a:t>до</a:t>
            </a:r>
            <a:r>
              <a:rPr sz="1200" b="1" dirty="0">
                <a:latin typeface="Calibri"/>
              </a:rPr>
              <a:t> 286)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3782C1E-A69E-8FED-50B6-DB6BC34EA3F6}"/>
              </a:ext>
            </a:extLst>
          </p:cNvPr>
          <p:cNvSpPr/>
          <p:nvPr/>
        </p:nvSpPr>
        <p:spPr>
          <a:xfrm>
            <a:off x="2396263" y="1097280"/>
            <a:ext cx="2194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Одна программа
(всё пространство)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A6CAEF8-FFCD-36F1-6DCE-236549FF041D}"/>
              </a:ext>
            </a:extLst>
          </p:cNvPr>
          <p:cNvSpPr/>
          <p:nvPr/>
        </p:nvSpPr>
        <p:spPr>
          <a:xfrm>
            <a:off x="2579143" y="2377440"/>
            <a:ext cx="1828800" cy="64008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>
                <a:solidFill>
                  <a:srgbClr val="283246"/>
                </a:solidFill>
                <a:latin typeface="Calibri"/>
              </a:rPr>
              <a:t>Память: 1 МБ
Нет защиты страниц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85FE2A30-7C47-4830-73B0-EF748468454F}"/>
              </a:ext>
            </a:extLst>
          </p:cNvPr>
          <p:cNvSpPr/>
          <p:nvPr/>
        </p:nvSpPr>
        <p:spPr>
          <a:xfrm>
            <a:off x="4590823" y="237744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>
                <a:solidFill>
                  <a:srgbClr val="283246"/>
                </a:solidFill>
                <a:latin typeface="Calibri"/>
              </a:rPr>
              <a:t>Прямой доступ
к портам I/O</a:t>
            </a:r>
          </a:p>
        </p:txBody>
      </p:sp>
      <p:cxnSp>
        <p:nvCxnSpPr>
          <p:cNvPr id="12" name="Connector 10">
            <a:extLst>
              <a:ext uri="{FF2B5EF4-FFF2-40B4-BE49-F238E27FC236}">
                <a16:creationId xmlns:a16="http://schemas.microsoft.com/office/drawing/2014/main" id="{D8BD4B62-A837-49D0-A3C3-A062AC1919E0}"/>
              </a:ext>
            </a:extLst>
          </p:cNvPr>
          <p:cNvCxnSpPr/>
          <p:nvPr/>
        </p:nvCxnSpPr>
        <p:spPr>
          <a:xfrm>
            <a:off x="3493543" y="1920240"/>
            <a:ext cx="0" cy="45720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1">
            <a:extLst>
              <a:ext uri="{FF2B5EF4-FFF2-40B4-BE49-F238E27FC236}">
                <a16:creationId xmlns:a16="http://schemas.microsoft.com/office/drawing/2014/main" id="{7826ED33-20D3-9555-C1BF-C533891DE994}"/>
              </a:ext>
            </a:extLst>
          </p:cNvPr>
          <p:cNvCxnSpPr/>
          <p:nvPr/>
        </p:nvCxnSpPr>
        <p:spPr>
          <a:xfrm>
            <a:off x="4590823" y="1508760"/>
            <a:ext cx="594360" cy="8686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B69A0E-32EB-BF8D-0206-F7D696175D53}"/>
              </a:ext>
            </a:extLst>
          </p:cNvPr>
          <p:cNvSpPr txBox="1"/>
          <p:nvPr/>
        </p:nvSpPr>
        <p:spPr>
          <a:xfrm>
            <a:off x="2674021" y="3383280"/>
            <a:ext cx="21310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dirty="0" err="1">
                <a:latin typeface="Calibri"/>
              </a:rPr>
              <a:t>Нет</a:t>
            </a:r>
            <a:r>
              <a:rPr sz="1000" b="1" dirty="0">
                <a:latin typeface="Calibri"/>
              </a:rPr>
              <a:t> </a:t>
            </a:r>
            <a:r>
              <a:rPr sz="1000" b="1" dirty="0" err="1">
                <a:latin typeface="Calibri"/>
              </a:rPr>
              <a:t>изоляции</a:t>
            </a:r>
            <a:r>
              <a:rPr sz="1000" b="1" dirty="0">
                <a:latin typeface="Calibri"/>
              </a:rPr>
              <a:t>:
</a:t>
            </a:r>
            <a:r>
              <a:rPr sz="1000" b="1" dirty="0" err="1">
                <a:latin typeface="Calibri"/>
              </a:rPr>
              <a:t>одна</a:t>
            </a:r>
            <a:r>
              <a:rPr sz="1000" b="1" dirty="0">
                <a:latin typeface="Calibri"/>
              </a:rPr>
              <a:t> </a:t>
            </a:r>
            <a:r>
              <a:rPr sz="1000" b="1" dirty="0" err="1">
                <a:latin typeface="Calibri"/>
              </a:rPr>
              <a:t>программа</a:t>
            </a:r>
            <a:r>
              <a:rPr sz="1000" b="1" dirty="0">
                <a:latin typeface="Calibri"/>
              </a:rPr>
              <a:t> </a:t>
            </a:r>
            <a:r>
              <a:rPr sz="1000" b="1" dirty="0" err="1">
                <a:latin typeface="Calibri"/>
              </a:rPr>
              <a:t>может</a:t>
            </a:r>
            <a:r>
              <a:rPr sz="1000" b="1" dirty="0">
                <a:latin typeface="Calibri"/>
              </a:rPr>
              <a:t>
</a:t>
            </a:r>
            <a:r>
              <a:rPr sz="1000" b="1" dirty="0" err="1">
                <a:latin typeface="Calibri"/>
              </a:rPr>
              <a:t>повредить</a:t>
            </a:r>
            <a:r>
              <a:rPr sz="1000" b="1" dirty="0">
                <a:latin typeface="Calibri"/>
              </a:rPr>
              <a:t> </a:t>
            </a:r>
            <a:r>
              <a:rPr sz="1000" b="1" dirty="0" err="1">
                <a:latin typeface="Calibri"/>
              </a:rPr>
              <a:t>систему</a:t>
            </a:r>
            <a:endParaRPr sz="1000" b="1" dirty="0"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C842D6-05B3-1FE8-65B5-41093C77504E}"/>
              </a:ext>
            </a:extLst>
          </p:cNvPr>
          <p:cNvSpPr txBox="1"/>
          <p:nvPr/>
        </p:nvSpPr>
        <p:spPr>
          <a:xfrm>
            <a:off x="6373904" y="457200"/>
            <a:ext cx="21909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dirty="0" err="1">
                <a:latin typeface="Calibri"/>
              </a:rPr>
              <a:t>Защищённый</a:t>
            </a:r>
            <a:r>
              <a:rPr sz="1200" b="1" dirty="0">
                <a:latin typeface="Calibri"/>
              </a:rPr>
              <a:t> </a:t>
            </a:r>
            <a:r>
              <a:rPr sz="1200" b="1" dirty="0" err="1">
                <a:latin typeface="Calibri"/>
              </a:rPr>
              <a:t>режим</a:t>
            </a:r>
            <a:r>
              <a:rPr sz="1200" b="1" dirty="0">
                <a:latin typeface="Calibri"/>
              </a:rPr>
              <a:t> (286+)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DF403111-24F5-0981-4177-C02B797E79CD}"/>
              </a:ext>
            </a:extLst>
          </p:cNvPr>
          <p:cNvSpPr/>
          <p:nvPr/>
        </p:nvSpPr>
        <p:spPr>
          <a:xfrm>
            <a:off x="6236744" y="1097280"/>
            <a:ext cx="2377440" cy="73152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Ring 0: Ядро,
драйверы, HAL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5A216B-E2F5-02E3-2C50-8EBEF24478D2}"/>
              </a:ext>
            </a:extLst>
          </p:cNvPr>
          <p:cNvSpPr/>
          <p:nvPr/>
        </p:nvSpPr>
        <p:spPr>
          <a:xfrm>
            <a:off x="6236744" y="2011680"/>
            <a:ext cx="23774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Ring 3: Приложения,
подсистемы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02C94A26-815C-27D8-11A3-53580D2D1A40}"/>
              </a:ext>
            </a:extLst>
          </p:cNvPr>
          <p:cNvSpPr/>
          <p:nvPr/>
        </p:nvSpPr>
        <p:spPr>
          <a:xfrm>
            <a:off x="5962424" y="3108960"/>
            <a:ext cx="822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>
                <a:solidFill>
                  <a:srgbClr val="283246"/>
                </a:solidFill>
                <a:latin typeface="Calibri"/>
              </a:rPr>
              <a:t>Процесс A
своё адресное
пространство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8FD3090C-0F0D-39B7-7521-D332F14879B4}"/>
              </a:ext>
            </a:extLst>
          </p:cNvPr>
          <p:cNvSpPr/>
          <p:nvPr/>
        </p:nvSpPr>
        <p:spPr>
          <a:xfrm>
            <a:off x="7059704" y="3108960"/>
            <a:ext cx="822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>
                <a:solidFill>
                  <a:srgbClr val="283246"/>
                </a:solidFill>
                <a:latin typeface="Calibri"/>
              </a:rPr>
              <a:t>Процесс B
своё адресное
пространство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63B1A123-FF59-5A71-87A7-C2FB5F04FC99}"/>
              </a:ext>
            </a:extLst>
          </p:cNvPr>
          <p:cNvSpPr/>
          <p:nvPr/>
        </p:nvSpPr>
        <p:spPr>
          <a:xfrm>
            <a:off x="8156984" y="3108960"/>
            <a:ext cx="822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>
                <a:solidFill>
                  <a:srgbClr val="283246"/>
                </a:solidFill>
                <a:latin typeface="Calibri"/>
              </a:rPr>
              <a:t>Процесс C
своё адресное
пространство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A31AA7DE-4289-5CC0-80A1-4A3882032488}"/>
              </a:ext>
            </a:extLst>
          </p:cNvPr>
          <p:cNvSpPr/>
          <p:nvPr/>
        </p:nvSpPr>
        <p:spPr>
          <a:xfrm>
            <a:off x="6511064" y="4023360"/>
            <a:ext cx="2103120" cy="64008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>
                <a:solidFill>
                  <a:srgbClr val="283246"/>
                </a:solidFill>
                <a:latin typeface="Calibri"/>
              </a:rPr>
              <a:t>Виртуальная память
→ таблицы страниц
→ RAM / pagefile.sys</a:t>
            </a:r>
          </a:p>
        </p:txBody>
      </p:sp>
      <p:cxnSp>
        <p:nvCxnSpPr>
          <p:cNvPr id="22" name="Connector 22">
            <a:extLst>
              <a:ext uri="{FF2B5EF4-FFF2-40B4-BE49-F238E27FC236}">
                <a16:creationId xmlns:a16="http://schemas.microsoft.com/office/drawing/2014/main" id="{E5593947-E31B-831B-B4C9-74B4DADE8D25}"/>
              </a:ext>
            </a:extLst>
          </p:cNvPr>
          <p:cNvCxnSpPr/>
          <p:nvPr/>
        </p:nvCxnSpPr>
        <p:spPr>
          <a:xfrm>
            <a:off x="6785383" y="3749039"/>
            <a:ext cx="822961" cy="274321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D8E5F00-E3DB-CFB7-12F3-24F96FB8E2E1}"/>
              </a:ext>
            </a:extLst>
          </p:cNvPr>
          <p:cNvSpPr txBox="1"/>
          <p:nvPr/>
        </p:nvSpPr>
        <p:spPr>
          <a:xfrm>
            <a:off x="6565900" y="4846320"/>
            <a:ext cx="17907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dirty="0" err="1">
                <a:latin typeface="Calibri"/>
              </a:rPr>
              <a:t>Изоляция</a:t>
            </a:r>
            <a:r>
              <a:rPr sz="1000" b="1" dirty="0">
                <a:latin typeface="Calibri"/>
              </a:rPr>
              <a:t> </a:t>
            </a:r>
            <a:r>
              <a:rPr sz="1000" b="1" dirty="0" err="1">
                <a:latin typeface="Calibri"/>
              </a:rPr>
              <a:t>процессов</a:t>
            </a:r>
            <a:r>
              <a:rPr sz="1000" b="1" dirty="0">
                <a:latin typeface="Calibri"/>
              </a:rPr>
              <a:t>:
</a:t>
            </a:r>
            <a:r>
              <a:rPr sz="1000" b="1" dirty="0" err="1">
                <a:latin typeface="Calibri"/>
              </a:rPr>
              <a:t>каждый</a:t>
            </a:r>
            <a:r>
              <a:rPr sz="1000" b="1" dirty="0">
                <a:latin typeface="Calibri"/>
              </a:rPr>
              <a:t> в </a:t>
            </a:r>
            <a:r>
              <a:rPr sz="1000" b="1" dirty="0" err="1">
                <a:latin typeface="Calibri"/>
              </a:rPr>
              <a:t>своём</a:t>
            </a:r>
            <a:r>
              <a:rPr sz="1000" b="1" dirty="0">
                <a:latin typeface="Calibri"/>
              </a:rPr>
              <a:t>
</a:t>
            </a:r>
            <a:r>
              <a:rPr sz="1000" b="1" dirty="0" err="1">
                <a:latin typeface="Calibri"/>
              </a:rPr>
              <a:t>адресном</a:t>
            </a:r>
            <a:r>
              <a:rPr sz="1000" b="1" dirty="0">
                <a:latin typeface="Calibri"/>
              </a:rPr>
              <a:t> </a:t>
            </a:r>
            <a:r>
              <a:rPr sz="1000" b="1" dirty="0" err="1">
                <a:latin typeface="Calibri"/>
              </a:rPr>
              <a:t>пространстве</a:t>
            </a:r>
            <a:endParaRPr sz="1000" b="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24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9x и 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Две параллельные линии развития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 dirty="0">
                <a:solidFill>
                  <a:srgbClr val="283246"/>
                </a:solidFill>
                <a:latin typeface="Calibri"/>
              </a:rPr>
              <a:t>Windows 9x (95, 98, ME)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 err="1">
                <a:solidFill>
                  <a:srgbClr val="283246"/>
                </a:solidFill>
                <a:latin typeface="Calibri"/>
              </a:rPr>
              <a:t>Поверх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MS-DOS, 16-битные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компоненты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для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совместимости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.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Нестабильна</a:t>
            </a:r>
            <a:r>
              <a:rPr sz="1700" dirty="0">
                <a:solidFill>
                  <a:srgbClr val="283246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но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совместима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со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старыми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играми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 dirty="0">
                <a:solidFill>
                  <a:srgbClr val="283246"/>
                </a:solidFill>
                <a:latin typeface="Calibri"/>
              </a:rPr>
              <a:t>Windows NT (New Technology)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>
                <a:solidFill>
                  <a:srgbClr val="283246"/>
                </a:solidFill>
                <a:latin typeface="Calibri"/>
              </a:rPr>
              <a:t>С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нуля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как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32-битная ОС. DOS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не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используется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.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Защищённая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память</a:t>
            </a:r>
            <a:r>
              <a:rPr sz="1700" dirty="0">
                <a:solidFill>
                  <a:srgbClr val="283246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многопользовательская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безопасность</a:t>
            </a:r>
            <a:r>
              <a:rPr sz="1700" dirty="0">
                <a:solidFill>
                  <a:srgbClr val="283246"/>
                </a:solidFill>
                <a:latin typeface="Calibri"/>
              </a:rPr>
              <a:t>, SMP.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 dirty="0" err="1">
                <a:solidFill>
                  <a:srgbClr val="283246"/>
                </a:solidFill>
                <a:latin typeface="Calibri"/>
              </a:rPr>
              <a:t>Итог</a:t>
            </a:r>
            <a:endParaRPr sz="1700" b="1" dirty="0">
              <a:solidFill>
                <a:srgbClr val="283246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dirty="0">
                <a:solidFill>
                  <a:srgbClr val="283246"/>
                </a:solidFill>
                <a:latin typeface="Calibri"/>
              </a:rPr>
              <a:t>В 2001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году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Windows XP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объединил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обе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линии</a:t>
            </a:r>
            <a:r>
              <a:rPr sz="1700" dirty="0">
                <a:solidFill>
                  <a:srgbClr val="283246"/>
                </a:solidFill>
                <a:latin typeface="Calibri"/>
              </a:rPr>
              <a:t>.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Все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современные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Windows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строятся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на </a:t>
            </a:r>
            <a:r>
              <a:rPr sz="1700" dirty="0" err="1">
                <a:solidFill>
                  <a:srgbClr val="283246"/>
                </a:solidFill>
                <a:latin typeface="Calibri"/>
              </a:rPr>
              <a:t>ядре</a:t>
            </a:r>
            <a:r>
              <a:rPr sz="1700" dirty="0">
                <a:solidFill>
                  <a:srgbClr val="283246"/>
                </a:solidFill>
                <a:latin typeface="Calibri"/>
              </a:rPr>
              <a:t> 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3DC3-F652-AD84-7A0D-4C03F826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AA59D6-73EE-E797-32D1-5B1CD36444D9}"/>
              </a:ext>
            </a:extLst>
          </p:cNvPr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82CBD-BBB4-3DD8-7839-FA5A19C7617E}"/>
              </a:ext>
            </a:extLst>
          </p:cNvPr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9x и 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1398D-7532-81A9-CA29-A6C82CB346F8}"/>
              </a:ext>
            </a:extLst>
          </p:cNvPr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Две параллельные линии развития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AB25D0-572D-A90D-EFE0-3E3722F21825}"/>
              </a:ext>
            </a:extLst>
          </p:cNvPr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61068-80DC-BECF-2A9A-8F6D1A464013}"/>
              </a:ext>
            </a:extLst>
          </p:cNvPr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C1C7D8-3686-D94C-B1C7-9A4D23F23860}"/>
              </a:ext>
            </a:extLst>
          </p:cNvPr>
          <p:cNvSpPr txBox="1"/>
          <p:nvPr/>
        </p:nvSpPr>
        <p:spPr>
          <a:xfrm>
            <a:off x="2697480" y="594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latin typeface="Calibri"/>
              </a:rPr>
              <a:t>Ветка 9x (потребительская)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04C4EF8E-D339-B1E3-DF06-EA6143404111}"/>
              </a:ext>
            </a:extLst>
          </p:cNvPr>
          <p:cNvSpPr/>
          <p:nvPr/>
        </p:nvSpPr>
        <p:spPr>
          <a:xfrm>
            <a:off x="2788920" y="1143000"/>
            <a:ext cx="1188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Windows 95
(1995)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3AC5DDC0-02CB-6969-A9A3-5526E8F60FBE}"/>
              </a:ext>
            </a:extLst>
          </p:cNvPr>
          <p:cNvSpPr/>
          <p:nvPr/>
        </p:nvSpPr>
        <p:spPr>
          <a:xfrm>
            <a:off x="4114800" y="1143000"/>
            <a:ext cx="1188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Windows 98
(1998)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12F35AE4-B989-90F2-F706-7B32E49BCA3E}"/>
              </a:ext>
            </a:extLst>
          </p:cNvPr>
          <p:cNvSpPr/>
          <p:nvPr/>
        </p:nvSpPr>
        <p:spPr>
          <a:xfrm>
            <a:off x="5440680" y="1143000"/>
            <a:ext cx="1188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Windows ME
(2000)</a:t>
            </a:r>
          </a:p>
        </p:txBody>
      </p:sp>
      <p:cxnSp>
        <p:nvCxnSpPr>
          <p:cNvPr id="26" name="Connector 10">
            <a:extLst>
              <a:ext uri="{FF2B5EF4-FFF2-40B4-BE49-F238E27FC236}">
                <a16:creationId xmlns:a16="http://schemas.microsoft.com/office/drawing/2014/main" id="{CB87AF92-0C51-4F01-51BA-BC3C51E9A3F3}"/>
              </a:ext>
            </a:extLst>
          </p:cNvPr>
          <p:cNvCxnSpPr/>
          <p:nvPr/>
        </p:nvCxnSpPr>
        <p:spPr>
          <a:xfrm>
            <a:off x="3977640" y="1485900"/>
            <a:ext cx="13716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1">
            <a:extLst>
              <a:ext uri="{FF2B5EF4-FFF2-40B4-BE49-F238E27FC236}">
                <a16:creationId xmlns:a16="http://schemas.microsoft.com/office/drawing/2014/main" id="{70B7400F-25EE-AD40-190B-B47720685AF0}"/>
              </a:ext>
            </a:extLst>
          </p:cNvPr>
          <p:cNvCxnSpPr/>
          <p:nvPr/>
        </p:nvCxnSpPr>
        <p:spPr>
          <a:xfrm>
            <a:off x="5303520" y="1485900"/>
            <a:ext cx="13716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AE3C633-18EF-1420-5686-4E0070BF4A5B}"/>
              </a:ext>
            </a:extLst>
          </p:cNvPr>
          <p:cNvSpPr txBox="1"/>
          <p:nvPr/>
        </p:nvSpPr>
        <p:spPr>
          <a:xfrm>
            <a:off x="269748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latin typeface="Calibri"/>
              </a:rPr>
              <a:t>Ветка NT (корпоративная)</a:t>
            </a: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87DB05CC-8B1D-7C61-352F-437603CD963D}"/>
              </a:ext>
            </a:extLst>
          </p:cNvPr>
          <p:cNvSpPr/>
          <p:nvPr/>
        </p:nvSpPr>
        <p:spPr>
          <a:xfrm>
            <a:off x="2788920" y="2743200"/>
            <a:ext cx="1188720" cy="59436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NT 3.1
(1993)</a:t>
            </a:r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B6F4638C-A4D0-62D8-7505-CFFF20AD7FA7}"/>
              </a:ext>
            </a:extLst>
          </p:cNvPr>
          <p:cNvSpPr/>
          <p:nvPr/>
        </p:nvSpPr>
        <p:spPr>
          <a:xfrm>
            <a:off x="4114800" y="2743200"/>
            <a:ext cx="1188720" cy="59436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NT 4.0
(1996)</a:t>
            </a:r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5DCBEC6A-71E5-8B42-63EF-65F2BF528E67}"/>
              </a:ext>
            </a:extLst>
          </p:cNvPr>
          <p:cNvSpPr/>
          <p:nvPr/>
        </p:nvSpPr>
        <p:spPr>
          <a:xfrm>
            <a:off x="5440680" y="2743200"/>
            <a:ext cx="1188720" cy="59436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2000
(2000)</a:t>
            </a:r>
          </a:p>
        </p:txBody>
      </p:sp>
      <p:cxnSp>
        <p:nvCxnSpPr>
          <p:cNvPr id="32" name="Connector 16">
            <a:extLst>
              <a:ext uri="{FF2B5EF4-FFF2-40B4-BE49-F238E27FC236}">
                <a16:creationId xmlns:a16="http://schemas.microsoft.com/office/drawing/2014/main" id="{25B41E94-2364-30BE-CF76-60BB0DB32969}"/>
              </a:ext>
            </a:extLst>
          </p:cNvPr>
          <p:cNvCxnSpPr/>
          <p:nvPr/>
        </p:nvCxnSpPr>
        <p:spPr>
          <a:xfrm>
            <a:off x="3977640" y="3040380"/>
            <a:ext cx="13716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7">
            <a:extLst>
              <a:ext uri="{FF2B5EF4-FFF2-40B4-BE49-F238E27FC236}">
                <a16:creationId xmlns:a16="http://schemas.microsoft.com/office/drawing/2014/main" id="{0CEF7A69-E703-3025-F54C-EE0C28826A63}"/>
              </a:ext>
            </a:extLst>
          </p:cNvPr>
          <p:cNvCxnSpPr/>
          <p:nvPr/>
        </p:nvCxnSpPr>
        <p:spPr>
          <a:xfrm>
            <a:off x="5303520" y="3040380"/>
            <a:ext cx="13716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18">
            <a:extLst>
              <a:ext uri="{FF2B5EF4-FFF2-40B4-BE49-F238E27FC236}">
                <a16:creationId xmlns:a16="http://schemas.microsoft.com/office/drawing/2014/main" id="{90E1FE56-9E62-A8CD-8F71-76D02C0922E2}"/>
              </a:ext>
            </a:extLst>
          </p:cNvPr>
          <p:cNvSpPr/>
          <p:nvPr/>
        </p:nvSpPr>
        <p:spPr>
          <a:xfrm>
            <a:off x="7040880" y="1920240"/>
            <a:ext cx="1188720" cy="73152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Windows XP
(2001)</a:t>
            </a:r>
          </a:p>
        </p:txBody>
      </p:sp>
      <p:cxnSp>
        <p:nvCxnSpPr>
          <p:cNvPr id="35" name="Connector 19">
            <a:extLst>
              <a:ext uri="{FF2B5EF4-FFF2-40B4-BE49-F238E27FC236}">
                <a16:creationId xmlns:a16="http://schemas.microsoft.com/office/drawing/2014/main" id="{5E5DF220-0853-7260-65EA-32955E4524FC}"/>
              </a:ext>
            </a:extLst>
          </p:cNvPr>
          <p:cNvCxnSpPr/>
          <p:nvPr/>
        </p:nvCxnSpPr>
        <p:spPr>
          <a:xfrm>
            <a:off x="6629400" y="1485900"/>
            <a:ext cx="411480" cy="57150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0">
            <a:extLst>
              <a:ext uri="{FF2B5EF4-FFF2-40B4-BE49-F238E27FC236}">
                <a16:creationId xmlns:a16="http://schemas.microsoft.com/office/drawing/2014/main" id="{91E0465F-CF5C-9B1C-0DDF-82F62AD1EB6F}"/>
              </a:ext>
            </a:extLst>
          </p:cNvPr>
          <p:cNvCxnSpPr/>
          <p:nvPr/>
        </p:nvCxnSpPr>
        <p:spPr>
          <a:xfrm flipV="1">
            <a:off x="6629400" y="2606039"/>
            <a:ext cx="411480" cy="434341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21">
            <a:extLst>
              <a:ext uri="{FF2B5EF4-FFF2-40B4-BE49-F238E27FC236}">
                <a16:creationId xmlns:a16="http://schemas.microsoft.com/office/drawing/2014/main" id="{C82F7FCD-3B1C-72B8-06FF-CD367D9632E4}"/>
              </a:ext>
            </a:extLst>
          </p:cNvPr>
          <p:cNvSpPr/>
          <p:nvPr/>
        </p:nvSpPr>
        <p:spPr>
          <a:xfrm>
            <a:off x="7132320" y="3177539"/>
            <a:ext cx="1371600" cy="7315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7, 8, 10, 11
(2009–2024)</a:t>
            </a:r>
          </a:p>
        </p:txBody>
      </p:sp>
      <p:cxnSp>
        <p:nvCxnSpPr>
          <p:cNvPr id="38" name="Connector 22">
            <a:extLst>
              <a:ext uri="{FF2B5EF4-FFF2-40B4-BE49-F238E27FC236}">
                <a16:creationId xmlns:a16="http://schemas.microsoft.com/office/drawing/2014/main" id="{4CC50445-FF95-1747-BA35-0A4DA4B9B4C5}"/>
              </a:ext>
            </a:extLst>
          </p:cNvPr>
          <p:cNvCxnSpPr>
            <a:cxnSpLocks/>
          </p:cNvCxnSpPr>
          <p:nvPr/>
        </p:nvCxnSpPr>
        <p:spPr>
          <a:xfrm>
            <a:off x="7645101" y="2651760"/>
            <a:ext cx="0" cy="525779"/>
          </a:xfrm>
          <a:prstGeom prst="line">
            <a:avLst/>
          </a:prstGeom>
          <a:ln w="38100">
            <a:solidFill>
              <a:srgbClr val="2EA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F38CA0C-B5B7-26EF-B6CA-576AE340DC5B}"/>
              </a:ext>
            </a:extLst>
          </p:cNvPr>
          <p:cNvSpPr txBox="1"/>
          <p:nvPr/>
        </p:nvSpPr>
        <p:spPr>
          <a:xfrm>
            <a:off x="2697480" y="3909059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9x — ядро DOS, 16/32-бит, нет защиты памяти.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NT — новое ядро, защищённый режим, стабильность.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XP — объединение: ядро NT для всех.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A54A07-4CC9-0C11-6D01-52BF1E1940AF}"/>
              </a:ext>
            </a:extLst>
          </p:cNvPr>
          <p:cNvSpPr txBox="1"/>
          <p:nvPr/>
        </p:nvSpPr>
        <p:spPr>
          <a:xfrm>
            <a:off x="6766560" y="960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dirty="0">
                <a:latin typeface="Calibri"/>
              </a:rPr>
              <a:t>← </a:t>
            </a:r>
            <a:r>
              <a:rPr sz="900" dirty="0" err="1">
                <a:latin typeface="Calibri"/>
              </a:rPr>
              <a:t>объединение</a:t>
            </a:r>
            <a:r>
              <a:rPr sz="900" dirty="0">
                <a:latin typeface="Calibri"/>
              </a:rPr>
              <a:t> →</a:t>
            </a:r>
          </a:p>
        </p:txBody>
      </p:sp>
    </p:spTree>
    <p:extLst>
      <p:ext uri="{BB962C8B-B14F-4D97-AF65-F5344CB8AC3E}">
        <p14:creationId xmlns:p14="http://schemas.microsoft.com/office/powerpoint/2010/main" val="147215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XP → Windows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Эволюция линейки 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Windows XP (2001)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Объединение 9x и NT. Массовый переход на NT для домашних ПК.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Windows Vista (2007)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UAC, Aero, WDDM, BitLocker. Заложила основы безопасности.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Windows 7 (2009)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Оптимизация Vista. Одна из лучших версий в истории.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Windows 8 / 8.1 (2012–2013)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Плиточный интерфейс, ориентация на планшеты.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Windows 10 (2015)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UWP, Windows as a Service, интегация Cortana — голосового помощника, распознающего команды и ищущего информацию.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Windows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Новый интерфейс и Android-приложения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Windows 11 (2021)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Центральное меню «Пуск», Snap Layouts, обязательный TPM 2.0, интегация ИИ (Copilot).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Поддержка Android (WSA)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Windows Subsystem for Android — ядро Android в виртуальной машине Hyper-V. Установка через Amazon Appstore (не Google Play). Приложения без сервисов Google не работали.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Окончание поддержки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В марте 2025 г. Microsoft прекратила развитие WSA. Сейчас — только эмуляторы или сторонние сборки.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Универсальная 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Почему Windows работает на любом железе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Проблема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Тысячи комбинаций оборудования. Писать ОС для каждой — невозможно.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Подход Apple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Производит и железо, и ОС. Совместимость гарантирована, но без сторонних конфигураций.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Подход Microsoft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Системный код не обращается к оборудованию напрямую — через промежуточные слои абстракции.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Три ключевых понятия: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HAL — абстракция платформы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Драйверы — абстракция устройств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• Подсистемы — абстракция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Универсальная 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Как Windows работает на любом железе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03840" y="411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dirty="0">
                <a:latin typeface="Calibri"/>
              </a:rPr>
              <a:t>Apple: </a:t>
            </a:r>
            <a:r>
              <a:rPr sz="1200" b="1" dirty="0" err="1">
                <a:latin typeface="Calibri"/>
              </a:rPr>
              <a:t>один</a:t>
            </a:r>
            <a:r>
              <a:rPr sz="1200" b="1" dirty="0">
                <a:latin typeface="Calibri"/>
              </a:rPr>
              <a:t> </a:t>
            </a:r>
            <a:r>
              <a:rPr sz="1200" b="1" dirty="0" err="1">
                <a:latin typeface="Calibri"/>
              </a:rPr>
              <a:t>производитель</a:t>
            </a:r>
            <a:endParaRPr sz="1200" b="1" dirty="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03840" y="1005840"/>
            <a:ext cx="2194560" cy="7315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macOS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1120" y="1737360"/>
            <a:ext cx="0" cy="27432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03840" y="2011680"/>
            <a:ext cx="2194560" cy="7315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Железо Apple
(M-series, Intel Mac)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38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>
                <a:latin typeface="Calibri"/>
              </a:rPr>
              <a:t>Один производитель
полный контроль над стеком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13958" y="914400"/>
            <a:ext cx="0" cy="4114800"/>
          </a:xfrm>
          <a:prstGeom prst="line">
            <a:avLst/>
          </a:prstGeom>
          <a:ln w="12700">
            <a:solidFill>
              <a:srgbClr val="C8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88278" y="411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dirty="0">
                <a:latin typeface="Calibri"/>
              </a:rPr>
              <a:t>Windows: </a:t>
            </a:r>
            <a:r>
              <a:rPr sz="1200" b="1" dirty="0" err="1">
                <a:latin typeface="Calibri"/>
              </a:rPr>
              <a:t>тысячи</a:t>
            </a:r>
            <a:r>
              <a:rPr sz="1200" b="1" dirty="0">
                <a:latin typeface="Calibri"/>
              </a:rPr>
              <a:t> </a:t>
            </a:r>
            <a:r>
              <a:rPr sz="1200" b="1" dirty="0" err="1">
                <a:latin typeface="Calibri"/>
              </a:rPr>
              <a:t>конфигураций</a:t>
            </a:r>
            <a:endParaRPr sz="1200" b="1" dirty="0"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88278" y="1005840"/>
            <a:ext cx="3017520" cy="64008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ОС Windows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97038" y="164592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88278" y="1828800"/>
            <a:ext cx="3017520" cy="5029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Подсистемы окружения (Win32, POSIX, WSL)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97038" y="233172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288278" y="2514600"/>
            <a:ext cx="3017520" cy="5029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HAL (hal.dll) — абстракция платформы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97038" y="301752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88278" y="3200400"/>
            <a:ext cx="3017520" cy="5029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Драйверы устройств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97038" y="370332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288278" y="3931920"/>
            <a:ext cx="868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Intel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8398" y="3931920"/>
            <a:ext cx="868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AMD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8518" y="3931920"/>
            <a:ext cx="868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NVIDIA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68638" y="3931920"/>
            <a:ext cx="868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83246"/>
                </a:solidFill>
                <a:latin typeface="Calibri"/>
              </a:rPr>
              <a:t>ASUS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8278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>
                <a:latin typeface="Calibri"/>
              </a:rPr>
              <a:t>Тысячи комбинаций железа
одна ОС через слои абстракции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6946" y="566928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dirty="0">
                <a:latin typeface="Calibri"/>
              </a:rPr>
              <a:t>Apple: «</a:t>
            </a:r>
            <a:r>
              <a:rPr sz="1000" dirty="0" err="1">
                <a:latin typeface="Calibri"/>
              </a:rPr>
              <a:t>железо</a:t>
            </a:r>
            <a:r>
              <a:rPr sz="1000" dirty="0">
                <a:latin typeface="Calibri"/>
              </a:rPr>
              <a:t> → ОС» — </a:t>
            </a:r>
            <a:r>
              <a:rPr sz="1000" dirty="0" err="1">
                <a:latin typeface="Calibri"/>
              </a:rPr>
              <a:t>вертикально</a:t>
            </a:r>
            <a:r>
              <a:rPr sz="1000" dirty="0">
                <a:latin typeface="Calibri"/>
              </a:rPr>
              <a:t> </a:t>
            </a:r>
            <a:r>
              <a:rPr sz="1000" dirty="0" err="1">
                <a:latin typeface="Calibri"/>
              </a:rPr>
              <a:t>интегрировано</a:t>
            </a:r>
            <a:r>
              <a:rPr sz="1000" dirty="0">
                <a:latin typeface="Calibri"/>
              </a:rPr>
              <a:t>.</a:t>
            </a:r>
          </a:p>
          <a:p>
            <a:pPr algn="ctr">
              <a:spcAft>
                <a:spcPts val="300"/>
              </a:spcAft>
            </a:pPr>
            <a:r>
              <a:rPr sz="1000" dirty="0">
                <a:latin typeface="Calibri"/>
              </a:rPr>
              <a:t>Windows: «ОС → HAL → </a:t>
            </a:r>
            <a:r>
              <a:rPr sz="1000" dirty="0" err="1">
                <a:latin typeface="Calibri"/>
              </a:rPr>
              <a:t>драйверы</a:t>
            </a:r>
            <a:r>
              <a:rPr sz="1000" dirty="0">
                <a:latin typeface="Calibri"/>
              </a:rPr>
              <a:t> → </a:t>
            </a:r>
            <a:r>
              <a:rPr sz="1000" dirty="0" err="1">
                <a:latin typeface="Calibri"/>
              </a:rPr>
              <a:t>любое</a:t>
            </a:r>
            <a:r>
              <a:rPr sz="1000" dirty="0">
                <a:latin typeface="Calibri"/>
              </a:rPr>
              <a:t> </a:t>
            </a:r>
            <a:r>
              <a:rPr sz="1000" dirty="0" err="1">
                <a:latin typeface="Calibri"/>
              </a:rPr>
              <a:t>железо</a:t>
            </a:r>
            <a:r>
              <a:rPr sz="1000" dirty="0">
                <a:latin typeface="Calibri"/>
              </a:rPr>
              <a:t>» — </a:t>
            </a:r>
            <a:r>
              <a:rPr sz="1000" dirty="0" err="1">
                <a:latin typeface="Calibri"/>
              </a:rPr>
              <a:t>горизонтально</a:t>
            </a:r>
            <a:r>
              <a:rPr sz="100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HAL и драйверы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Слои между ядром и железом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HAL (Hardware Abstraction Layer)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Скрывает от ядра детали платформы: контроллер прерываний, DMA, порты ввода-вывода. Реализован как hal.dll, подбирается автоматически при установке.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Драйвер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Связывает ОС с конкретным устройством. Получает абстрактные запросы («запиши на диск») и превращает в команды для конкретного устройства.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700" b="1">
                <a:solidFill>
                  <a:srgbClr val="283246"/>
                </a:solidFill>
                <a:latin typeface="Calibri"/>
              </a:rPr>
              <a:t>Разделение ролей: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• HAL — материнская плата, чипсет, контроллеры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>
                <a:solidFill>
                  <a:srgbClr val="283246"/>
                </a:solidFill>
                <a:latin typeface="Calibri"/>
              </a:rPr>
              <a:t>• Драйвер — видеокарта, диск, сетевая карта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HAL и драйверы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Как ОС абстрагируется от железа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79192" y="1097280"/>
            <a:ext cx="2596896" cy="82296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Ядро ОС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192024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79192" y="2103120"/>
            <a:ext cx="2596896" cy="82296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HAL (hal.dll)
абстракция платформы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Обеспечивает единый интерфейс ядра к разным платформам.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77639" y="292608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79192" y="3108960"/>
            <a:ext cx="2596896" cy="8229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Драйверы устройств
абстракция устройств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Предоставляют унифицированный интерфейс для разных устройств.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5276087" y="2286000"/>
            <a:ext cx="1188721" cy="1005840"/>
          </a:xfrm>
          <a:prstGeom prst="line">
            <a:avLst/>
          </a:prstGeom>
          <a:ln w="38100">
            <a:solidFill>
              <a:srgbClr val="F3B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06440" y="3200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Платформенные сервисы:
прерывания, DMA, порты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4114800"/>
            <a:ext cx="2596896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Оборудование
(CPU, RAM, диски, периферия)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931920"/>
            <a:ext cx="0" cy="18288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5029200"/>
            <a:ext cx="2743200" cy="0"/>
          </a:xfrm>
          <a:prstGeom prst="line">
            <a:avLst/>
          </a:prstGeom>
          <a:ln w="50800">
            <a:solidFill>
              <a:srgbClr val="C8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0604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>
                <a:latin typeface="Calibri"/>
              </a:rPr>
              <a:t>HAL — это «прослойка», которая скрывает различия платформ.
Драйверы скрывают различия устройств, но используют HAL для доступа к платформе.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Прерывания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Сигналы, требующие внимания процессора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Что такое прерывание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Сигнал, заставляющий процессор приостановить программу и переключиться на обработку события.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Аналогия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Вы читаете книгу — звонит телефон. Вы кладёте закладку, отвечаете, продолжаете чтение.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Аппаратные (IRQ)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От устройств: клавиатура, диск, сеть, таймер. Асинхронны.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Программные (исключения)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Внутри процессора: деление на ноль, нарушение доступа. Синхронны.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Контроллер прерываний (APIC)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Принимает IRQ, определяет приоритет, передаёт процессору.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Прерывания: типы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Как сигналы от устройств попадают в процессор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79192" y="1097280"/>
            <a:ext cx="2048255" cy="7315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Клавиатура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1920240"/>
            <a:ext cx="2048255" cy="7315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Диск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2743200"/>
            <a:ext cx="2048255" cy="7315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Сеть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3566160"/>
            <a:ext cx="2048255" cy="7315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Таймер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4105835" y="1541929"/>
            <a:ext cx="1517725" cy="1018391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86200" y="10058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IRQ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3980329" y="2286000"/>
            <a:ext cx="1643231" cy="27432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8620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IRQ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 flipV="1">
            <a:off x="3886200" y="2560320"/>
            <a:ext cx="1737360" cy="54864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8620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IRQ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 flipV="1">
            <a:off x="3980329" y="2560320"/>
            <a:ext cx="1643231" cy="137160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8620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IRQ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103120"/>
            <a:ext cx="1280160" cy="9144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Контроллер
прерываний
(APIC)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95160" y="2560320"/>
            <a:ext cx="64008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35240" y="2148839"/>
            <a:ext cx="1097280" cy="8229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Процессор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023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latin typeface="Calibri"/>
              </a:rPr>
              <a:t>Аппаратные — асинхронные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latin typeface="Calibri"/>
              </a:rPr>
              <a:t>Программные (исключения) — синхронные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06040" y="4617720"/>
            <a:ext cx="6126479" cy="0"/>
          </a:xfrm>
          <a:prstGeom prst="line">
            <a:avLst/>
          </a:prstGeom>
          <a:ln w="12700">
            <a:solidFill>
              <a:srgbClr val="C8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1500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>
                <a:latin typeface="Calibri"/>
              </a:rPr>
              <a:t>(не показаны на схеме: возникают внутри CPU
при ошибках, системных вызовах и т.п.)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Путь прерывания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От устройства до обработчика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Путь прерывания (на примере клавиши):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1. Клавиатура посылает IRQ на контроллер прерываний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2. Контроллер преобразует IRQ в вектор и передаёт процессору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3. Процессор сохраняет контекст (адрес возврата, флаги)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4. По вектору в таблице IDT находится обработчик (ISR)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5. Через HAL и ядро — драйвер читает код клавиши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6. Процессор восстанавливает контекст и продолжает программу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Приоритеты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Таймер (IRQ0) — высший, затем клавиатура (IRQ1). Вложенные прерывания возможны.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Прерывания: путь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От сигнала устройства до возврата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88920" y="457200"/>
            <a:ext cx="6035040" cy="45720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Прерванная программа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554480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Клавиатура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60" y="1874519"/>
            <a:ext cx="45720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813048" y="1207007"/>
            <a:ext cx="292608" cy="292608"/>
          </a:xfrm>
          <a:prstGeom prst="ellipse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01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>
                <a:latin typeface="Calibri"/>
              </a:rPr>
              <a:t>IRQ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554480"/>
            <a:ext cx="914400" cy="64008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60" y="1874519"/>
            <a:ext cx="45720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4648" y="1207007"/>
            <a:ext cx="292608" cy="292608"/>
          </a:xfrm>
          <a:prstGeom prst="ellipse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554480"/>
            <a:ext cx="1371600" cy="6400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Процессор
(сохранение контекста)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95160" y="1874519"/>
            <a:ext cx="45720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13448" y="1207007"/>
            <a:ext cx="292608" cy="292608"/>
          </a:xfrm>
          <a:prstGeom prst="ellipse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234439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latin typeface="Calibri"/>
              </a:rPr>
              <a:t>IDT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508760"/>
            <a:ext cx="201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53528" y="1508760"/>
            <a:ext cx="201168" cy="457200"/>
          </a:xfrm>
          <a:prstGeom prst="rect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1508760"/>
            <a:ext cx="201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1508760"/>
            <a:ext cx="201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7032" y="1508760"/>
            <a:ext cx="201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1508760"/>
            <a:ext cx="201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28324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98424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>
                <a:latin typeface="Calibri"/>
              </a:rPr>
              <a:t>векторы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55864" y="2240279"/>
            <a:ext cx="0" cy="1051561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909560" y="2286000"/>
            <a:ext cx="292608" cy="292608"/>
          </a:xfrm>
          <a:prstGeom prst="ellipse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291840"/>
            <a:ext cx="1737360" cy="73152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Обработчик ISR
(через HAL и ядро)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629400" y="3657600"/>
            <a:ext cx="54864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47688" y="2944368"/>
            <a:ext cx="292608" cy="292608"/>
          </a:xfrm>
          <a:prstGeom prst="ellipse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3291840"/>
            <a:ext cx="1371600" cy="7315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Драйвер
клавиатуры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709160" y="3657600"/>
            <a:ext cx="54864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727448" y="2944368"/>
            <a:ext cx="292608" cy="292608"/>
          </a:xfrm>
          <a:prstGeom prst="ellipse">
            <a:avLst/>
          </a:prstGeom>
          <a:solidFill>
            <a:srgbClr val="F3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0128" y="3291840"/>
            <a:ext cx="1371600" cy="73152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Возврат
(iret)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697480" y="960120"/>
            <a:ext cx="0" cy="2331720"/>
          </a:xfrm>
          <a:prstGeom prst="line">
            <a:avLst/>
          </a:prstGeom>
          <a:ln w="38100">
            <a:solidFill>
              <a:srgbClr val="F3B2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88920" y="45720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1 — устройство посылает IRQ,  2 — APIC передаёт сигнал в CPU,
3 — CPU сохраняет контекст и читает индекс из IDT,
4 — по индексу находится адрес ISR,  5 — ISR вызывает драйвер,
6 — драйвер обрабатывает данные,  iret — возврат к программе.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Подсистемы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Переводчики между приложениями и ядром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74320"/>
            <a:ext cx="6355080" cy="63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Что такое подсистема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Компонент ОС, предоставляющий приложениям определённый API. Win32 — для Windows, POSIX — для Unix, WSL — для Linux.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Схема работы: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1. Приложение вызывает API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2. Подсистема преобразует запрос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3. Системный вызов → ядро (Executive)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4. Результат возвращается обратно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283246"/>
                </a:solidFill>
                <a:latin typeface="Calibri"/>
              </a:rPr>
              <a:t>Расположение в памяти: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83246"/>
                </a:solidFill>
                <a:latin typeface="Calibri"/>
              </a:rPr>
              <a:t>Подсистемы — отдельные процессы в Ring 3. Каждое приложение получает клиентские DLL (kernel32.dll, user32.dll). Связь клиента и сервера — через LPC.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Подсистемы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2560320"/>
            <a:ext cx="201168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BADBFF"/>
                </a:solidFill>
                <a:latin typeface="Calibri"/>
              </a:rPr>
              <a:t>Как приложение доходит до ядра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6858000" cy="6858000"/>
          </a:xfrm>
          <a:prstGeom prst="rect">
            <a:avLst/>
          </a:prstGeom>
          <a:pattFill prst="pct5">
            <a:fgClr>
              <a:srgbClr val="C8D6EA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C8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7203130" y="777240"/>
            <a:ext cx="0" cy="521208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48250" y="594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dirty="0">
                <a:latin typeface="Calibri"/>
              </a:rPr>
              <a:t>Ring 3 (</a:t>
            </a:r>
            <a:r>
              <a:rPr sz="1100" b="1" dirty="0" err="1">
                <a:latin typeface="Calibri"/>
              </a:rPr>
              <a:t>пользовательский</a:t>
            </a:r>
            <a:r>
              <a:rPr sz="1100" b="1" dirty="0">
                <a:latin typeface="Calibri"/>
              </a:rPr>
              <a:t> </a:t>
            </a:r>
            <a:r>
              <a:rPr sz="1100" b="1" dirty="0" err="1">
                <a:latin typeface="Calibri"/>
              </a:rPr>
              <a:t>режим</a:t>
            </a:r>
            <a:r>
              <a:rPr sz="1100" b="1" dirty="0"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4570" y="594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dirty="0">
                <a:latin typeface="Calibri"/>
              </a:rPr>
              <a:t>Ring 0 (</a:t>
            </a:r>
            <a:r>
              <a:rPr sz="1100" b="1" dirty="0" err="1">
                <a:latin typeface="Calibri"/>
              </a:rPr>
              <a:t>ядро</a:t>
            </a:r>
            <a:r>
              <a:rPr sz="1100" b="1" dirty="0">
                <a:latin typeface="Calibri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8250" y="2514600"/>
            <a:ext cx="1737360" cy="914400"/>
          </a:xfrm>
          <a:prstGeom prst="rect">
            <a:avLst/>
          </a:prstGeom>
          <a:solidFill>
            <a:srgbClr val="BA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283246"/>
                </a:solidFill>
                <a:latin typeface="Calibri"/>
              </a:rPr>
              <a:t>Приложение
+
DLL подсистемы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85610" y="2971800"/>
            <a:ext cx="548640" cy="0"/>
          </a:xfrm>
          <a:prstGeom prst="line">
            <a:avLst/>
          </a:prstGeom>
          <a:ln w="25400">
            <a:solidFill>
              <a:srgbClr val="283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latin typeface="Calibri"/>
              </a:rPr>
              <a:t>LPC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4250" y="2514600"/>
            <a:ext cx="1737360" cy="914400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Сервер подсистемы
csrss.exe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71609" y="2971800"/>
            <a:ext cx="1005841" cy="0"/>
          </a:xfrm>
          <a:prstGeom prst="line">
            <a:avLst/>
          </a:prstGeom>
          <a:ln w="38100">
            <a:solidFill>
              <a:srgbClr val="2EA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17329" y="2331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latin typeface="Calibri"/>
              </a:rPr>
              <a:t>системный вызов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7450" y="2468880"/>
            <a:ext cx="1463040" cy="9144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8250" y="475488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LPC (Local Procedure Call) — локальный механизм вызова
между процессами в пользовательском режиме.</a:t>
            </a:r>
          </a:p>
          <a:p>
            <a:pPr algn="l">
              <a:spcAft>
                <a:spcPts val="300"/>
              </a:spcAft>
            </a:pPr>
            <a:r>
              <a:rPr sz="1000">
                <a:latin typeface="Calibri"/>
              </a:rPr>
              <a:t>Системный вызов — переход из Ring 3 в Ring 0
через механизм trap/sysenter.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1655</Words>
  <Application>Microsoft Office PowerPoint</Application>
  <PresentationFormat>Экран (4:3)</PresentationFormat>
  <Paragraphs>233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Andrey Bulychev</cp:lastModifiedBy>
  <cp:revision>11</cp:revision>
  <dcterms:created xsi:type="dcterms:W3CDTF">2013-01-27T09:14:16Z</dcterms:created>
  <dcterms:modified xsi:type="dcterms:W3CDTF">2026-09-21T20:46:56Z</dcterms:modified>
  <cp:category/>
</cp:coreProperties>
</file>