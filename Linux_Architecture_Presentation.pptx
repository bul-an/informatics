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6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Архитектура ОС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Учебный материал для СПО (IT-специальности)</a:t>
            </a:r>
            <a:br/>
            <a:r>
              <a:t>Тема: ядро, подсистемы, системные вызовы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DEA"/>
                </a:solidFill>
              </a:defRPr>
            </a:pPr>
            <a:r>
              <a:t>Linux — ядро, а не операционная система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Linux — ядро, написанное Линусом Торвальдсом (1991).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Дистрибутив = ядро + утилиты + пакетный менеджер + GUI.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Полное название: GNU/Linux.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Ключевая мысль: Linux — это ядро.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То, что пользователи называют «Linux»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(Ubuntu, Fedora) — дистрибутивы на этом ядре.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188720"/>
          <a:ext cx="4297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573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Понятие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Что это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Ядро Linux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Центральная часть, управляет железом и ресурсами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Дистрибутив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Ядро + утилиты + пакетный менеджер + GUI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GNU/Linux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Инструменты GNU + ядро Linux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DEA"/>
                </a:solidFill>
              </a:defRPr>
            </a:pPr>
            <a:r>
              <a:t>Слои архитектуры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┌──────────────────────────────────────────────┐</a:t>
            </a:r>
          </a:p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│        ПОЛЬЗОВАТЕЛЬСКОЕ ПРОСТРАНСТВО            │</a:t>
            </a:r>
          </a:p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│  Приложения | Утилиты | Shell | Сервисы          │</a:t>
            </a:r>
          </a:p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├──────────────────────────────────────────────┤</a:t>
            </a:r>
          </a:p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│        Системные вызовы (syscalls)               │</a:t>
            </a:r>
          </a:p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├──────────────────────────────────────────────┤</a:t>
            </a:r>
          </a:p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│        ПРОСТРАНСТВО ЯДРА (kernel space)          │</a:t>
            </a:r>
          </a:p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│  Планировщик | Память | VFS | Сеть | Драйверы     │</a:t>
            </a:r>
          </a:p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├──────────────────────────────────────────────┤</a:t>
            </a:r>
          </a:p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│        АППАРАТНОЕ ОБЕСПЕЧЕНИЕ                    │</a:t>
            </a:r>
          </a:p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│  CPU | RAM | Диски | Сеть | Устройства            │</a:t>
            </a:r>
          </a:p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└──────────────────────────────────────────────┘</a:t>
            </a:r>
          </a:p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Два режима: kernel space (ring 0) и user space (ring 3).</a:t>
            </a:r>
          </a:p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Граница — системные вызовы.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DEA"/>
                </a:solidFill>
              </a:defRPr>
            </a:pPr>
            <a:r>
              <a:t>Kernel Space и User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Ring 0 — ядро: прямой доступ к железу.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Ring 3 — приложения: только через syscalls.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Сбой в ядре → Kernel panic (вся система).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Сбой в user space → Segfault (только процесс).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Память ядра — общая, защищённая.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Память процесса — изолированная.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188720"/>
          <a:ext cx="4297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Аспект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Kernel Space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User Space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Кольцо (x86)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Ring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Ring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Доступ к железу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Прямой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Через syscalls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Память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Общая для ядра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Изолирована для процесса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Сбой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Kernel panic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Segfault (только процесс)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Код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Ядро, драйверы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Приложения, демоны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DEA"/>
                </a:solidFill>
              </a:defRPr>
            </a:pPr>
            <a:r>
              <a:t>Монолитное, но модульное ядро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Монолитное: все подсистемы в едином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адресном пространстве ядра.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Модульное: драйверы и ФС загружаются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и выгружаются на лету (LKM).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Команды работы с модулями: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modprobe nfs   — загрузить модуль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rmmod nfs      — выгрузить модуль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lsmod          — список модулей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188720"/>
          <a:ext cx="4297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573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Тип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Пример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Плюс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Минус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Монолитное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Linux, Unix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Производительность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Размер ядра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Микроядро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Minix, QNX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Надёжность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Накладные расходы IPC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Гибридное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Windows 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Баланс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Сложность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DEA"/>
                </a:solidFill>
              </a:defRPr>
            </a:pPr>
            <a:r>
              <a:t>Пять главных подсистем ядра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1. Процессы (sched) — создание,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планирование, сигналы.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2. Память (mm) — виртуальная память,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выделение, swap.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3. VFS (fs) — единый интерфейс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к файловым системам.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4. Сеть (net) — TCP/IP, сокеты,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netfilter.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5. Драйверы (drivers) — работа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с оборудованием.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188720"/>
          <a:ext cx="4297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Подсистема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Каталог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Ответственность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Процессы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kernel/sched/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Создание, планирование, сигналы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Память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mm/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Виртуальная память, swap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VFS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fs/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Единый интерфейс к ФС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Сеть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net/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TCP/IP, сокеты, netfilter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Драйверы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drivers/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Работа с оборудованием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DEA"/>
                </a:solidFill>
              </a:defRPr>
            </a:pPr>
            <a:r>
              <a:t>Процессы и потоки в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Всё — задачи (task_struct).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Процесс и поток — задачи с разным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набором общих ресурсов.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fork() → exec() — создание процесса.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clone(CLONE_VM) — создание потока.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Планировщик: CFS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(Completely Fair Scheduler).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Состояния: RUNNING → READY →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WAITING → ZOMBIE → (reaped)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188720"/>
          <a:ext cx="4297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Системный вызов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Что делает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fork()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Создаёт копию текущего процесса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exec()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Заменяет образ новой программой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clone()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Создаёт задачу с настройкой ресурсов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wait()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Ожидает завершения дочернего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exit()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Завершает процесс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DEA"/>
                </a:solidFill>
              </a:defRPr>
            </a:pPr>
            <a:r>
              <a:t>Управление памятью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Каждый процесс — изолированное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виртуальное адресное пространство.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Buddy Allocator — страницы по 2^n.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SLUB — объекты внутри страниц.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kswapd — вытеснение на диск (swap).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mmap() — отображение файла в память.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Адресное пространство (x86_64):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0x0000... — user space (128 TB)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0xFFFF... — kernel space (128 TB)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188720"/>
          <a:ext cx="4297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Уровень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Что делает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Buddy Allocator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Выделяет страницы (4 КБ, 8 КБ...)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SLUB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Выделяет объекты внутри страниц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kswapd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Вытесняет неиспользуемые страницы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mmap()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Отображает файл/устройство в память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DEA"/>
                </a:solidFill>
              </a:defRPr>
            </a:pPr>
            <a:r>
              <a:t>VFS — виртуальная файловая система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VFS — слой абстракции.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Приложения работают с файлами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одинаково, независимо от ФС.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Поддержка: ext4, XFS, Btrfs, FAT,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NTFS, NFS, tmpfs и др.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Принцип: «всё есть файл» —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устройства, сокеты, pipe — тоже файлы.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open() → VFS → ext4 → драйвер → диск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188720"/>
          <a:ext cx="4297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Шаг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Описание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open()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Приложение запрашивает файл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VFS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Единый интерфейс, выбор ФС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Конкретная ФС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ext4/XFS/Btrfs выполняет операцию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Драйвер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Обращение к блочному устройству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Диск/SSD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Физическое чтение/запись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DEA"/>
                </a:solidFill>
              </a:defRPr>
            </a:pPr>
            <a:r>
              <a:t>Сетевой стек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Полный стек TCP/IP внутри ядра.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Сокеты — интерфейс для приложений: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socket(), bind(), listen(),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accept(), send(), recv().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Netfilter / nftables — фаервол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на уровне ядра.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Стек: приложение → сокеты →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TCP/IP → Netfilter → драйвер → кабель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188720"/>
          <a:ext cx="4297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Компонент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Назначение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socket()/send()/recv()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Интерфейс для приложений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Сетевой стек ядра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TCP/UDP/IP обработка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Netfilter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Фильтрация, NAT, правила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Драйвер NIC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Передача пакетов на железо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DEA"/>
                </a:solidFill>
              </a:defRPr>
            </a:pPr>
            <a:r>
              <a:t>Драйверы устройств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Драйверы — более 70% кода ядра.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Бывают встроенные и загружаемые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(LKM, .ko файлы).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Категории: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Символьные — поток байтов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Блочные — блоками (секторами)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Сетевые — передача пакетов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Команды: lsmod, modprobe, lspci, dmesg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188720"/>
          <a:ext cx="4297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573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Категория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Пример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Особенность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Символьные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Клавиатура, serial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Чтение/запись потоком байтов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Блочные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Диск, SSD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Чтение/запись блоками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Сетевые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Ethernet, Wi-Fi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Передача пакетов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DEA"/>
                </a:solidFill>
              </a:defRPr>
            </a:pPr>
            <a:r>
              <a:t>Системные вызовы — мост между мирами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Syscall — единственный легальный способ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для программы из user space запросить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услугу у ядра.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Механика: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1. Программа вызывает функцию libc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2. libc кладёт номер syscall в регистр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3. Инструкция syscall (x86_64)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4. Переключение в ring 0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5. Ядро выполняет → результат обратно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Пример: printf() → write() →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      syscall → sys_write()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188720"/>
          <a:ext cx="4297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Этап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Описание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Приложение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Вызывает функцию libc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libc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Преобразует в syscall (write)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syscall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Переключение ring 3 → ring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sys_write()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Ядро выполняет запись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Возврат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Результат в приложение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DEA"/>
                </a:solidFill>
              </a:defRPr>
            </a:pPr>
            <a:r>
              <a:t>Основные системные вызовы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Файлы: open, read, write, close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Процессы: fork, exec, wait, exit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Память: mmap, munmap, brk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Сеть: socket, bind, listen,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    accept, send, recv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Сигналы: kill, signal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IPC: pipe, shmget, semget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Практикум: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strace -e trace=openat,read,write 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188720"/>
          <a:ext cx="4297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Категория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Системные вызовы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Назначение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Файлы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open, read, write, close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Операции с файлами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Процессы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fork, exec, wait, exit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Создание/завершение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Память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mmap, munmap, brk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Управление памятью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Сеть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socket, bind, listen, accept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Сетевые соединения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Сигналы/IPC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kill, signal, pipe, shmget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Сигналы и IPC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DEA"/>
                </a:solidFill>
              </a:defRPr>
            </a:pPr>
            <a:r>
              <a:t>Компоненты user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Библиотека C (glibc, musl) —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обёртки над syscall, POSIX API.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Shell (bash, zsh, fish) —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командная строка.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Утилиты (coreutils) —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ls, cat, cp, mv и др.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Пакетный менеджер (apt, dnf) —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установка ПО.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systemd — запуск и управление службами.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GUI (GNOME, KDE, XFCE).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Демоны (sshd, cron, nginx).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188720"/>
          <a:ext cx="4297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Компонент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Примеры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Назначение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Библиотека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glibc, musl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Обёртки над syscall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Shell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bash, zsh, fish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Командная строка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Утилиты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ls, cat, cp, mv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Базовые операции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Пакетный менеджер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apt, dnf, pacman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Установка ПО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Инициализация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systemd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Управление службами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GUI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GNOME, KDE, XFCE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Графическая среда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DEA"/>
                </a:solidFill>
              </a:defRPr>
            </a:pPr>
            <a:r>
              <a:t>systemd — менеджер служб (PID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systemd — система инициализации,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заменившая традиционный init.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Запускает, останавливает и отслеживает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службы (демоны).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Управляет зависимостями, логированием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(journald), сетью, устройствами.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Основные команды — справа в таблице.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188720"/>
          <a:ext cx="4297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Команда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Назначение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systemctl status nginx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Статус службы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systemctl start nginx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Запустить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systemctl stop nginx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Остановить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systemctl enable nginx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Автозапуск при загрузке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systemctl list-units --type=service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Все службы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journalctl -u nginx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Логи службы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DEA"/>
                </a:solidFill>
              </a:defRPr>
            </a:pPr>
            <a:r>
              <a:t>Иерархия файловой системы (FHS)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«Всё есть файл» — устройства, процессы,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параметры ядра доступны как файлы.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Дерево начинается с корня /.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Нет букв дисков (C:, D:) как в Windows.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Ключевые каталоги — в таблице.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188720"/>
          <a:ext cx="4297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Каталог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Что внутри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/bin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Базовые утилиты (ls, cat, cp)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/sbin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Системные утилиты (mount, reboot)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/etc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Конфигурационные файлы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/home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Домашние каталоги пользователей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/var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Логи, кэш, почта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/tmp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Временные файлы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/usr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Программы, библиотеки, документация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/dev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Устройства (как файлы)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/proc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Информация о процессах (виртуальная)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/sys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Информация об устройствах (виртуальная)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DEA"/>
                </a:solidFill>
              </a:defRPr>
            </a:pPr>
            <a:r>
              <a:t>/proc и /sys — окно в ядро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/proc — информация о процессах и ядре,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доступная как файлы.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/sys — интерфейс к устройствам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и параметрам ядра.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Примеры: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cat /proc/cpuinfo   — инфо о CPU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cat /proc/meminfo    — инфо о памяти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cat /proc/sys/kernel/hostname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echo "new" &gt; /proc/sys/kernel/hostname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cat /proc/modules    — загруженные модули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188720"/>
          <a:ext cx="4297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Файл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Что показывает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/proc/cpuinfo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Информация о процессоре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/proc/meminfo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Состояние памяти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/proc/modules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Загруженные модули ядра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/proc/[pid]/status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Статус процесса по PID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/sys/class/net/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Сетевые интерфейсы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DEA"/>
                </a:solidFill>
              </a:defRPr>
            </a:pPr>
            <a:r>
              <a:t>Безопасность и изоляция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Users / Groups — базовая модель (rwx).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Capabilities — точечные привилегии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(CAP_NET_ADMIN, CAP_SYS_ADMIN).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SELinux / AppArmor — мандатный доступ.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Namespaces — изоляция PID, сети,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монтирования, пользователей.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Cgroups (v2) — лимиты CPU, памяти, I/O.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Namespaces + cgroups =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основа контейнеров (Docker, Kubernetes).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188720"/>
          <a:ext cx="4297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Механизм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Что делает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Users/Groups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Базовые права rwx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Capabilities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Точечные привилегии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SELinux/AppArmor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Мандатный доступ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Namespaces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Изоляция (PID, сеть, mount)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Cgroups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Лимиты ресурсов (CPU, RAM)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DEA"/>
                </a:solidFill>
              </a:defRPr>
            </a:pPr>
            <a:r>
              <a:t>Загрузка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Процесс загрузки — 5 этапов: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1. BIOS/UEFI — инициализация железа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2. GRUB — загрузчик, выбор ядра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3. Ядро Linux — init подсистем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4. systemd (PID 1) — запуск служб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5. Login shell — пользователь в системе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initramfs — временная корневая ФС,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загружает драйверы диска до монтирования /.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188720"/>
          <a:ext cx="4297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Этап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Что происходит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BIOS/UEFI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POST, поиск загрузчика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GRUB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Загрузка vmlinuz и initramfs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Ядро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Инициализация mm, sched, VFS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initramfs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Временная ФС, драйверы диска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systemd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Монтирование /, запуск служб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getty + login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Терминал, аутентификация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DEA"/>
                </a:solidFill>
              </a:defRPr>
            </a:pPr>
            <a:r>
              <a:t>Linux vs Windows — сравнение архитектуры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Параллели для понимания.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Тип ядра: монолитное (Linux) vs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гибридное (Windows NT).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Реестр: нет (конфиги в /etc) vs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есть (Registry).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Устройства как файлы: да (/dev) vs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нет (Win32 API).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Планировщик: CFS vs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Multilevel feedback queue.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188720"/>
          <a:ext cx="4297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Аспект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Linux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Windows NT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Тип ядра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Монолитное + LKM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Гибридное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HAL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Нет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Есть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Инициализация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systemd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Service Control Manager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Реестр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Нет (/etc)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Есть (Registry)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Планировщик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MLFQ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ФС по умолчанию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ext4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NTFS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Драйверы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LKM (.ko)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WDM/WDF (.sys)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Устройства как файлы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Да (/dev)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Нет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DEA"/>
                </a:solidFill>
              </a:defRPr>
            </a:pPr>
            <a:r>
              <a:t>Практическое задание для лабораторной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1. uname -a — версия ядра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2. lsmod | head -20 — загруженные модули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3. ps aux | head -10 — процессы, найти PID 1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4. cat /proc/meminfo | head -5 — параметры памяти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5. strace -e trace=openat ls /etc 2&gt;&amp;1 | head -10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6. systemctl list-units --type=service --state=running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7. Найти конфиг в /etc (например, sshd_config)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8. cat /proc/cpuinfo — информация о CPU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Отчёт: скриншоты + выводы по подсистемам ядра.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188720"/>
          <a:ext cx="4297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Команда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Что исследуем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uname -a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Версия ядра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lsmod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Загруженные модули (драйверы)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ps aux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Процессы, PID 1 (systemd)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cat /proc/meminfo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Подсистема памяти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strace ... 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Системные вызовы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systemctl list-units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Работающие службы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DEA"/>
                </a:solidFill>
              </a:defRPr>
            </a:pPr>
            <a:r>
              <a:t>Частые заблуждения о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Миф: «Linux — микроядро»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Реальность: монолитное, но модульное (LKM).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Миф: «Контейнеры — это виртуальные машины»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Реальность: контейнеры используют ядро хоста.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Миф: «Все дистрибутивы — разные ОС»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Реальность: разные сборки на одном ядре.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Миф: «Драйверы нужно компилировать в ядро»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Реальность: загружаются как модули (.ko) на лету.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188720"/>
          <a:ext cx="4297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Миф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Реальность</a:t>
                      </a:r>
                    </a:p>
                  </a:txBody>
                  <a:tcPr anchor="ctr">
                    <a:solidFill>
                      <a:srgbClr val="176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Linux — микроядро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Монолитное + модульное (LKM)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Контейнеры = VM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Используют ядро хоста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Дистрибутивы = разные ОС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Сборки на одном ядре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Linux не для продакшена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Red Hat, Ubuntu LTS — корпоративные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Драйверы вшиты в ядро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Загружаются как .ko на лету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DEA"/>
                </a:solidFill>
              </a:defRPr>
            </a:pPr>
            <a:r>
              <a:t>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1. Linux — монолитное модульное ядро.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2. Два режима: kernel space (ring 0)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и user space (ring 3).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3. Пять подсистем: процессы, память,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VFS, сеть, драйверы.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4. «Всё есть файл» — /dev, /proc, /sys.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5. systemd — PID 1, управление службами.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6. Namespaces + cgroups — основа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контейнеров (Docker, Kubernetes).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7. Конфигурации — в текстовых файлах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(/etc), а не в реестре.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2321</Words>
  <Application>Microsoft Office PowerPoint</Application>
  <PresentationFormat>Экран (4:3)</PresentationFormat>
  <Paragraphs>556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Andrey</dc:creator>
  <cp:keywords/>
  <dc:description>generated using python-pptx</dc:description>
  <cp:lastModifiedBy>Andrey Bulychev</cp:lastModifiedBy>
  <cp:revision>1</cp:revision>
  <dcterms:created xsi:type="dcterms:W3CDTF">2013-01-27T09:14:16Z</dcterms:created>
  <dcterms:modified xsi:type="dcterms:W3CDTF">2026-10-01T20:44:33Z</dcterms:modified>
  <cp:category/>
</cp:coreProperties>
</file>